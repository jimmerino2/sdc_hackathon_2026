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Bricolage Grotesque Ultra-Bold" charset="1" panose="020B0605040402000204"/>
      <p:regular r:id="rId17"/>
    </p:embeddedFont>
    <p:embeddedFont>
      <p:font typeface="Bricolage Grotesque Bold" charset="1" panose="020B0605040402000204"/>
      <p:regular r:id="rId18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 everyone, today we'll be pitching our submission, Jobee.</a:t>
            </a:r>
          </a:p>
          <a:p>
            <a:r>
              <a:rPr lang="en-US"/>
              <a:t/>
            </a:r>
          </a:p>
          <a:p>
            <a:r>
              <a:rPr lang="en-US"/>
              <a:t>It's a reskilling platform by developers, for developers.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Currently in Malaysia, nearly 10% of our youth is unemployed</a:t>
            </a:r>
          </a:p>
          <a:p>
            <a:r>
              <a:rPr lang="en-US"/>
              <a:t/>
            </a:r>
          </a:p>
          <a:p>
            <a:r>
              <a:rPr lang="en-US"/>
              <a:t>that is nearly 3.5x more than the national xxxx</a:t>
            </a:r>
          </a:p>
          <a:p>
            <a:r>
              <a:rPr lang="en-US"/>
              <a:t/>
            </a:r>
          </a:p>
          <a:p>
            <a:r>
              <a:rPr lang="en-US"/>
              <a:t>to put into perspecitve...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this sint because they are uneducated or not competitive, but because the skills.....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Jobee aims to fix this through an agentic workflow, where we first profile users based on their skills, interests, and experience.</a:t>
            </a:r>
          </a:p>
          <a:p>
            <a:r>
              <a:rPr lang="en-US"/>
              <a:t/>
            </a:r>
          </a:p>
          <a:p>
            <a:r>
              <a:rPr lang="en-US"/>
              <a:t>Users are then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Students expect tools like this to be free, so we don't charge them for the core. The core roadmap, starter challenges, leaderboard and boss fights stay free.</a:t>
            </a:r>
          </a:p>
          <a:p>
            <a:r>
              <a:rPr lang="en-US"/>
              <a:t/>
            </a:r>
          </a:p>
          <a:p>
            <a:r>
              <a:rPr lang="en-US"/>
              <a:t>Our paying customer is universities and schools. They already spend money tracking and improving skills outcomes, and Jobee gives them a class dashboard, skill-gap reports, educator-set SDG-linked challenges and a ready-made project-based curriculum.</a:t>
            </a:r>
          </a:p>
          <a:p>
            <a:r>
              <a:rPr lang="en-US"/>
              <a:t/>
            </a:r>
          </a:p>
          <a:p>
            <a:r>
              <a:rPr lang="en-US"/>
              <a:t>For learners who want to go further there is Plus: unlimited challenges, auto-generated posts from their projects for their portfolio, and verified certifications as we scale.</a:t>
            </a:r>
          </a:p>
          <a:p>
            <a:r>
              <a:rPr lang="en-US"/>
              <a:t/>
            </a:r>
          </a:p>
          <a:p>
            <a:r>
              <a:rPr lang="en-US"/>
              <a:t>We never sell personal data. Anything shared with schools or employers is opt-in.</a:t>
            </a:r>
          </a:p>
          <a:p>
            <a:r>
              <a:rPr lang="en-US"/>
              <a:t/>
            </a:r>
          </a:p>
          <a:p>
            <a:r>
              <a:rPr lang="en-US"/>
              <a:t>Plan: start with free university pilots, then paid licences and Plus, then certifications.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2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Relationship Id="rId4" Target="../media/image1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Relationship Id="rId4" Target="../media/image12.png" Type="http://schemas.openxmlformats.org/officeDocument/2006/relationships/image"/><Relationship Id="rId5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4000" y="2381250"/>
            <a:ext cx="5905500" cy="5905500"/>
            <a:chOff x="0" y="0"/>
            <a:chExt cx="7874000" cy="787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635" y="0"/>
              <a:ext cx="7874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7874000">
                  <a:moveTo>
                    <a:pt x="3937635" y="0"/>
                  </a:moveTo>
                  <a:cubicBezTo>
                    <a:pt x="6111856" y="351"/>
                    <a:pt x="7874175" y="1763096"/>
                    <a:pt x="7874000" y="3937317"/>
                  </a:cubicBezTo>
                  <a:cubicBezTo>
                    <a:pt x="7873825" y="6111539"/>
                    <a:pt x="6111221" y="7874000"/>
                    <a:pt x="3937000" y="7874000"/>
                  </a:cubicBezTo>
                  <a:cubicBezTo>
                    <a:pt x="1762779" y="7874000"/>
                    <a:pt x="175" y="6111539"/>
                    <a:pt x="0" y="3937317"/>
                  </a:cubicBezTo>
                  <a:cubicBezTo>
                    <a:pt x="-175" y="1763096"/>
                    <a:pt x="1762144" y="351"/>
                    <a:pt x="3936365" y="0"/>
                  </a:cubicBezTo>
                  <a:close/>
                </a:path>
              </a:pathLst>
            </a:custGeom>
            <a:solidFill>
              <a:srgbClr val="FFEDB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874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611877" y="0"/>
            <a:ext cx="6685648" cy="4931850"/>
          </a:xfrm>
          <a:custGeom>
            <a:avLst/>
            <a:gdLst/>
            <a:ahLst/>
            <a:cxnLst/>
            <a:rect r="r" b="b" t="t" l="l"/>
            <a:pathLst>
              <a:path h="4931850" w="6685648">
                <a:moveTo>
                  <a:pt x="0" y="0"/>
                </a:moveTo>
                <a:lnTo>
                  <a:pt x="6685648" y="0"/>
                </a:lnTo>
                <a:lnTo>
                  <a:pt x="6685648" y="4931850"/>
                </a:lnTo>
                <a:lnTo>
                  <a:pt x="0" y="49318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629" r="-2137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4699150"/>
            <a:ext cx="5747904" cy="5587846"/>
          </a:xfrm>
          <a:custGeom>
            <a:avLst/>
            <a:gdLst/>
            <a:ahLst/>
            <a:cxnLst/>
            <a:rect r="r" b="b" t="t" l="l"/>
            <a:pathLst>
              <a:path h="5587846" w="5747904">
                <a:moveTo>
                  <a:pt x="0" y="0"/>
                </a:moveTo>
                <a:lnTo>
                  <a:pt x="5747904" y="0"/>
                </a:lnTo>
                <a:lnTo>
                  <a:pt x="5747904" y="5587846"/>
                </a:lnTo>
                <a:lnTo>
                  <a:pt x="0" y="55878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78" t="0" r="0" b="-13739"/>
            </a:stretch>
          </a:blipFill>
        </p:spPr>
      </p:sp>
      <p:sp>
        <p:nvSpPr>
          <p:cNvPr name="AutoShape 10" id="10"/>
          <p:cNvSpPr/>
          <p:nvPr/>
        </p:nvSpPr>
        <p:spPr>
          <a:xfrm rot="7641">
            <a:off x="-9536" y="1079000"/>
            <a:ext cx="8570271" cy="0"/>
          </a:xfrm>
          <a:prstGeom prst="line">
            <a:avLst/>
          </a:prstGeom>
          <a:ln cap="rnd" w="9525">
            <a:solidFill>
              <a:srgbClr val="E0A400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11" id="11"/>
          <p:cNvSpPr/>
          <p:nvPr/>
        </p:nvSpPr>
        <p:spPr>
          <a:xfrm rot="7641">
            <a:off x="9727264" y="9208000"/>
            <a:ext cx="8570271" cy="0"/>
          </a:xfrm>
          <a:prstGeom prst="line">
            <a:avLst/>
          </a:prstGeom>
          <a:ln cap="rnd" w="9525">
            <a:solidFill>
              <a:srgbClr val="E0A400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873952" y="3353750"/>
            <a:ext cx="3579500" cy="3579500"/>
          </a:xfrm>
          <a:custGeom>
            <a:avLst/>
            <a:gdLst/>
            <a:ahLst/>
            <a:cxnLst/>
            <a:rect r="r" b="b" t="t" l="l"/>
            <a:pathLst>
              <a:path h="3579500" w="3579500">
                <a:moveTo>
                  <a:pt x="0" y="0"/>
                </a:moveTo>
                <a:lnTo>
                  <a:pt x="3579500" y="0"/>
                </a:lnTo>
                <a:lnTo>
                  <a:pt x="3579500" y="3579500"/>
                </a:lnTo>
                <a:lnTo>
                  <a:pt x="0" y="3579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656173" y="4645867"/>
            <a:ext cx="12975653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98"/>
              </a:lnSpc>
            </a:pPr>
            <a:r>
              <a:rPr lang="en-US" b="true" sz="13665">
                <a:solidFill>
                  <a:srgbClr val="1F1F1F"/>
                </a:solidFill>
                <a:latin typeface="Bricolage Grotesque Ultra-Bold"/>
                <a:ea typeface="Bricolage Grotesque Ultra-Bold"/>
                <a:cs typeface="Bricolage Grotesque Ultra-Bold"/>
                <a:sym typeface="Bricolage Grotesque Ultra-Bold"/>
              </a:rPr>
              <a:t>Jobee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71649" y="6527054"/>
            <a:ext cx="920269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6E645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The reskilling platform built by developers, for developers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67900" y="9353550"/>
            <a:ext cx="7962900" cy="571500"/>
            <a:chOff x="0" y="0"/>
            <a:chExt cx="10617200" cy="762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17200" cy="762000"/>
            </a:xfrm>
            <a:custGeom>
              <a:avLst/>
              <a:gdLst/>
              <a:ahLst/>
              <a:cxnLst/>
              <a:rect r="r" b="b" t="t" l="l"/>
              <a:pathLst>
                <a:path h="762000" w="10617200">
                  <a:moveTo>
                    <a:pt x="381000" y="0"/>
                  </a:moveTo>
                  <a:lnTo>
                    <a:pt x="10236200" y="0"/>
                  </a:lnTo>
                  <a:cubicBezTo>
                    <a:pt x="10446620" y="0"/>
                    <a:pt x="10617200" y="170580"/>
                    <a:pt x="10617200" y="381000"/>
                  </a:cubicBezTo>
                  <a:cubicBezTo>
                    <a:pt x="10617200" y="591420"/>
                    <a:pt x="10446620" y="762000"/>
                    <a:pt x="10236200" y="762000"/>
                  </a:cubicBezTo>
                  <a:lnTo>
                    <a:pt x="381000" y="762000"/>
                  </a:ln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FFC10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6172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191291" y="9447176"/>
            <a:ext cx="732026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TEAM CLAYPOT CHICKEN RICE · SDC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3700" y="0"/>
            <a:ext cx="18280600" cy="10287002"/>
          </a:xfrm>
          <a:custGeom>
            <a:avLst/>
            <a:gdLst/>
            <a:ahLst/>
            <a:cxnLst/>
            <a:rect r="r" b="b" t="t" l="l"/>
            <a:pathLst>
              <a:path h="10287002" w="18280600">
                <a:moveTo>
                  <a:pt x="0" y="0"/>
                </a:moveTo>
                <a:lnTo>
                  <a:pt x="18280600" y="0"/>
                </a:lnTo>
                <a:lnTo>
                  <a:pt x="18280600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E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rot="5391232">
            <a:off x="-3125337" y="3725400"/>
            <a:ext cx="7469874" cy="0"/>
          </a:xfrm>
          <a:prstGeom prst="line">
            <a:avLst/>
          </a:prstGeom>
          <a:ln cap="rnd" w="9525">
            <a:solidFill>
              <a:srgbClr val="E0A400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7" id="7"/>
          <p:cNvSpPr/>
          <p:nvPr/>
        </p:nvSpPr>
        <p:spPr>
          <a:xfrm rot="5391232">
            <a:off x="13943463" y="6561600"/>
            <a:ext cx="7469874" cy="0"/>
          </a:xfrm>
          <a:prstGeom prst="line">
            <a:avLst/>
          </a:prstGeom>
          <a:ln cap="rnd" w="9525">
            <a:solidFill>
              <a:srgbClr val="E0A400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0" y="7637360"/>
            <a:ext cx="3156448" cy="2649640"/>
          </a:xfrm>
          <a:custGeom>
            <a:avLst/>
            <a:gdLst/>
            <a:ahLst/>
            <a:cxnLst/>
            <a:rect r="r" b="b" t="t" l="l"/>
            <a:pathLst>
              <a:path h="2649640" w="3156448">
                <a:moveTo>
                  <a:pt x="0" y="0"/>
                </a:moveTo>
                <a:lnTo>
                  <a:pt x="3156448" y="0"/>
                </a:lnTo>
                <a:lnTo>
                  <a:pt x="3156448" y="2649640"/>
                </a:lnTo>
                <a:lnTo>
                  <a:pt x="0" y="2649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126" t="-115576" r="-64297" b="-4156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131550" y="-4"/>
            <a:ext cx="3156450" cy="2595400"/>
          </a:xfrm>
          <a:custGeom>
            <a:avLst/>
            <a:gdLst/>
            <a:ahLst/>
            <a:cxnLst/>
            <a:rect r="r" b="b" t="t" l="l"/>
            <a:pathLst>
              <a:path h="2595400" w="3156450">
                <a:moveTo>
                  <a:pt x="0" y="0"/>
                </a:moveTo>
                <a:lnTo>
                  <a:pt x="3156450" y="0"/>
                </a:lnTo>
                <a:lnTo>
                  <a:pt x="3156450" y="2595400"/>
                </a:lnTo>
                <a:lnTo>
                  <a:pt x="0" y="25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849" r="-18508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31425" y="1288171"/>
            <a:ext cx="15225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1F1F1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The Malaysian Tech Industry Today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19250" y="2762250"/>
            <a:ext cx="4762500" cy="3810000"/>
            <a:chOff x="0" y="0"/>
            <a:chExt cx="6350000" cy="508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6350000">
                  <a:moveTo>
                    <a:pt x="406400" y="0"/>
                  </a:moveTo>
                  <a:lnTo>
                    <a:pt x="5943600" y="0"/>
                  </a:lnTo>
                  <a:cubicBezTo>
                    <a:pt x="6168049" y="0"/>
                    <a:pt x="6350000" y="181951"/>
                    <a:pt x="6350000" y="406400"/>
                  </a:cubicBezTo>
                  <a:lnTo>
                    <a:pt x="6350000" y="4673600"/>
                  </a:lnTo>
                  <a:cubicBezTo>
                    <a:pt x="6350000" y="4898049"/>
                    <a:pt x="6168049" y="5080000"/>
                    <a:pt x="5943600" y="5080000"/>
                  </a:cubicBezTo>
                  <a:lnTo>
                    <a:pt x="406400" y="5080000"/>
                  </a:lnTo>
                  <a:cubicBezTo>
                    <a:pt x="181951" y="5080000"/>
                    <a:pt x="0" y="4898049"/>
                    <a:pt x="0" y="46736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3D27A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350000" cy="511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62750" y="2762250"/>
            <a:ext cx="4762500" cy="3810000"/>
            <a:chOff x="0" y="0"/>
            <a:chExt cx="6350000" cy="508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6350000">
                  <a:moveTo>
                    <a:pt x="406400" y="0"/>
                  </a:moveTo>
                  <a:lnTo>
                    <a:pt x="5943600" y="0"/>
                  </a:lnTo>
                  <a:cubicBezTo>
                    <a:pt x="6168049" y="0"/>
                    <a:pt x="6350000" y="181951"/>
                    <a:pt x="6350000" y="406400"/>
                  </a:cubicBezTo>
                  <a:lnTo>
                    <a:pt x="6350000" y="4673600"/>
                  </a:lnTo>
                  <a:cubicBezTo>
                    <a:pt x="6350000" y="4898049"/>
                    <a:pt x="6168049" y="5080000"/>
                    <a:pt x="5943600" y="5080000"/>
                  </a:cubicBezTo>
                  <a:lnTo>
                    <a:pt x="406400" y="5080000"/>
                  </a:lnTo>
                  <a:cubicBezTo>
                    <a:pt x="181951" y="5080000"/>
                    <a:pt x="0" y="4898049"/>
                    <a:pt x="0" y="46736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3D27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350000" cy="511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906250" y="2762250"/>
            <a:ext cx="4762500" cy="3810000"/>
            <a:chOff x="0" y="0"/>
            <a:chExt cx="6350000" cy="508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6350000">
                  <a:moveTo>
                    <a:pt x="406400" y="0"/>
                  </a:moveTo>
                  <a:lnTo>
                    <a:pt x="5943600" y="0"/>
                  </a:lnTo>
                  <a:cubicBezTo>
                    <a:pt x="6168049" y="0"/>
                    <a:pt x="6350000" y="181951"/>
                    <a:pt x="6350000" y="406400"/>
                  </a:cubicBezTo>
                  <a:lnTo>
                    <a:pt x="6350000" y="4673600"/>
                  </a:lnTo>
                  <a:cubicBezTo>
                    <a:pt x="6350000" y="4898049"/>
                    <a:pt x="6168049" y="5080000"/>
                    <a:pt x="5943600" y="5080000"/>
                  </a:cubicBezTo>
                  <a:lnTo>
                    <a:pt x="406400" y="5080000"/>
                  </a:lnTo>
                  <a:cubicBezTo>
                    <a:pt x="181951" y="5080000"/>
                    <a:pt x="0" y="4898049"/>
                    <a:pt x="0" y="46736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3D27A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350000" cy="511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19250" y="7524750"/>
            <a:ext cx="15049500" cy="1047750"/>
            <a:chOff x="0" y="0"/>
            <a:chExt cx="20066000" cy="1397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066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0066000">
                  <a:moveTo>
                    <a:pt x="698500" y="0"/>
                  </a:moveTo>
                  <a:lnTo>
                    <a:pt x="19367500" y="0"/>
                  </a:lnTo>
                  <a:cubicBezTo>
                    <a:pt x="19753270" y="0"/>
                    <a:pt x="20066000" y="312729"/>
                    <a:pt x="20066000" y="698500"/>
                  </a:cubicBezTo>
                  <a:cubicBezTo>
                    <a:pt x="20066000" y="1084271"/>
                    <a:pt x="19753270" y="1397000"/>
                    <a:pt x="19367500" y="1397000"/>
                  </a:cubicBezTo>
                  <a:lnTo>
                    <a:pt x="698500" y="1397000"/>
                  </a:lnTo>
                  <a:cubicBezTo>
                    <a:pt x="312729" y="1397000"/>
                    <a:pt x="0" y="1084271"/>
                    <a:pt x="0" y="698500"/>
                  </a:cubicBez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solidFill>
              <a:srgbClr val="1F1F1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0066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809750" y="3133725"/>
            <a:ext cx="4381500" cy="1395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724"/>
              </a:lnSpc>
              <a:spcBef>
                <a:spcPct val="0"/>
              </a:spcBef>
            </a:pPr>
            <a:r>
              <a:rPr lang="en-US" b="true" sz="9749" strike="noStrike" u="none">
                <a:solidFill>
                  <a:srgbClr val="D99A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10.1%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53250" y="3133725"/>
            <a:ext cx="4381500" cy="1395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724"/>
              </a:lnSpc>
              <a:spcBef>
                <a:spcPct val="0"/>
              </a:spcBef>
            </a:pPr>
            <a:r>
              <a:rPr lang="en-US" b="true" sz="9749" strike="noStrike" u="none">
                <a:solidFill>
                  <a:srgbClr val="D99A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3.5×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96750" y="3133725"/>
            <a:ext cx="4381500" cy="1395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724"/>
              </a:lnSpc>
              <a:spcBef>
                <a:spcPct val="0"/>
              </a:spcBef>
            </a:pPr>
            <a:r>
              <a:rPr lang="en-US" b="true" sz="9749" strike="noStrike" u="none">
                <a:solidFill>
                  <a:srgbClr val="D99A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294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52625" y="4857750"/>
            <a:ext cx="4095750" cy="122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3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1F1F1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Youth (21–25) unemployment in Malaysia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96125" y="4857750"/>
            <a:ext cx="4095750" cy="122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3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1F1F1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Youth rate vs. the national unemployment rate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39625" y="4857750"/>
            <a:ext cx="4095750" cy="122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3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1F1F1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applications and 247 days to land a single offer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19250" y="6781800"/>
            <a:ext cx="15049500" cy="28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9"/>
              </a:lnSpc>
              <a:spcBef>
                <a:spcPct val="0"/>
              </a:spcBef>
            </a:pPr>
            <a:r>
              <a:rPr lang="en-US" sz="1799" strike="noStrike" u="none">
                <a:solidFill>
                  <a:srgbClr val="6E6450"/>
                </a:solidFill>
                <a:latin typeface="Arimo"/>
                <a:ea typeface="Arimo"/>
                <a:cs typeface="Arimo"/>
                <a:sym typeface="Arimo"/>
              </a:rPr>
              <a:t>Source: DOSM Labour Force Survey, Dec 2025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95500" y="7829550"/>
            <a:ext cx="140970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314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The skills learned today may not be the skills required tomorrow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429000" y="8686800"/>
            <a:ext cx="114300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“Many jobs will disappear forever.”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429000" y="9372600"/>
            <a:ext cx="11430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6E6450"/>
                </a:solidFill>
                <a:latin typeface="Arimo Bold"/>
                <a:ea typeface="Arimo Bold"/>
                <a:cs typeface="Arimo Bold"/>
                <a:sym typeface="Arimo Bold"/>
              </a:rPr>
              <a:t>— Bill Gates, The Turbulent AI Era Is Here (Gates Notes, August 2026)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rot="5391232">
            <a:off x="-3125337" y="6561600"/>
            <a:ext cx="7469874" cy="0"/>
          </a:xfrm>
          <a:prstGeom prst="line">
            <a:avLst/>
          </a:prstGeom>
          <a:ln cap="rnd" w="9525">
            <a:solidFill>
              <a:srgbClr val="E0A400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6" id="6"/>
          <p:cNvSpPr/>
          <p:nvPr/>
        </p:nvSpPr>
        <p:spPr>
          <a:xfrm rot="5391232">
            <a:off x="13943463" y="3725400"/>
            <a:ext cx="7469874" cy="0"/>
          </a:xfrm>
          <a:prstGeom prst="line">
            <a:avLst/>
          </a:prstGeom>
          <a:ln cap="rnd" w="9525">
            <a:solidFill>
              <a:srgbClr val="E0A400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true" flipV="false" rot="0">
            <a:off x="2" y="0"/>
            <a:ext cx="3701852" cy="2035452"/>
          </a:xfrm>
          <a:custGeom>
            <a:avLst/>
            <a:gdLst/>
            <a:ahLst/>
            <a:cxnLst/>
            <a:rect r="r" b="b" t="t" l="l"/>
            <a:pathLst>
              <a:path h="2035452" w="3701852">
                <a:moveTo>
                  <a:pt x="3701852" y="0"/>
                </a:moveTo>
                <a:lnTo>
                  <a:pt x="0" y="0"/>
                </a:lnTo>
                <a:lnTo>
                  <a:pt x="0" y="2035452"/>
                </a:lnTo>
                <a:lnTo>
                  <a:pt x="3701852" y="2035452"/>
                </a:lnTo>
                <a:lnTo>
                  <a:pt x="3701852" y="0"/>
                </a:lnTo>
                <a:close/>
              </a:path>
            </a:pathLst>
          </a:custGeom>
          <a:blipFill>
            <a:blip r:embed="rId3"/>
            <a:stretch>
              <a:fillRect l="0" t="-61199" r="-2293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6430274" y="8429274"/>
            <a:ext cx="1561100" cy="2154350"/>
          </a:xfrm>
          <a:custGeom>
            <a:avLst/>
            <a:gdLst/>
            <a:ahLst/>
            <a:cxnLst/>
            <a:rect r="r" b="b" t="t" l="l"/>
            <a:pathLst>
              <a:path h="2154350" w="1561100">
                <a:moveTo>
                  <a:pt x="0" y="0"/>
                </a:moveTo>
                <a:lnTo>
                  <a:pt x="1561100" y="0"/>
                </a:lnTo>
                <a:lnTo>
                  <a:pt x="1561100" y="2154350"/>
                </a:lnTo>
                <a:lnTo>
                  <a:pt x="0" y="215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489" r="-13558" b="-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890009" y="318856"/>
            <a:ext cx="2369291" cy="2369291"/>
          </a:xfrm>
          <a:custGeom>
            <a:avLst/>
            <a:gdLst/>
            <a:ahLst/>
            <a:cxnLst/>
            <a:rect r="r" b="b" t="t" l="l"/>
            <a:pathLst>
              <a:path h="2369291" w="2369291">
                <a:moveTo>
                  <a:pt x="0" y="0"/>
                </a:moveTo>
                <a:lnTo>
                  <a:pt x="2369291" y="0"/>
                </a:lnTo>
                <a:lnTo>
                  <a:pt x="2369291" y="2369290"/>
                </a:lnTo>
                <a:lnTo>
                  <a:pt x="0" y="23692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868156" y="5442638"/>
            <a:ext cx="4672350" cy="3149164"/>
            <a:chOff x="0" y="0"/>
            <a:chExt cx="6229800" cy="419888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2154500" y="0"/>
              <a:ext cx="1920800" cy="1664000"/>
              <a:chOff x="0" y="0"/>
              <a:chExt cx="1920800" cy="1664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20875" cy="1663954"/>
              </a:xfrm>
              <a:custGeom>
                <a:avLst/>
                <a:gdLst/>
                <a:ahLst/>
                <a:cxnLst/>
                <a:rect r="r" b="b" t="t" l="l"/>
                <a:pathLst>
                  <a:path h="1663954" w="1920875">
                    <a:moveTo>
                      <a:pt x="0" y="831977"/>
                    </a:moveTo>
                    <a:lnTo>
                      <a:pt x="416052" y="0"/>
                    </a:lnTo>
                    <a:lnTo>
                      <a:pt x="1504823" y="0"/>
                    </a:lnTo>
                    <a:lnTo>
                      <a:pt x="1920875" y="831977"/>
                    </a:lnTo>
                    <a:lnTo>
                      <a:pt x="1504823" y="1663954"/>
                    </a:lnTo>
                    <a:lnTo>
                      <a:pt x="416052" y="1663954"/>
                    </a:lnTo>
                    <a:close/>
                  </a:path>
                </a:pathLst>
              </a:custGeom>
              <a:solidFill>
                <a:srgbClr val="FFC107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2808235"/>
              <a:ext cx="6229800" cy="1390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4A4337"/>
                  </a:solidFill>
                  <a:latin typeface="Arimo"/>
                  <a:ea typeface="Arimo"/>
                  <a:cs typeface="Arimo"/>
                  <a:sym typeface="Arimo"/>
                </a:rPr>
                <a:t>Provide job recommendations relative to profile and job demand trends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276400" y="305107"/>
              <a:ext cx="1677000" cy="1054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39"/>
                </a:lnSpc>
              </a:pPr>
              <a:r>
                <a:rPr lang="en-US" b="true" sz="5199">
                  <a:solidFill>
                    <a:srgbClr val="151515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02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054662"/>
              <a:ext cx="6229800" cy="66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0"/>
                </a:lnSpc>
              </a:pPr>
              <a:r>
                <a:rPr lang="en-US" b="true" sz="3300">
                  <a:solidFill>
                    <a:srgbClr val="1F1F1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Recommend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29961" y="3222876"/>
            <a:ext cx="4672350" cy="2806264"/>
            <a:chOff x="0" y="0"/>
            <a:chExt cx="6229800" cy="374168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2154500" y="0"/>
              <a:ext cx="1920800" cy="1664000"/>
              <a:chOff x="0" y="0"/>
              <a:chExt cx="1920800" cy="1664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20875" cy="1663954"/>
              </a:xfrm>
              <a:custGeom>
                <a:avLst/>
                <a:gdLst/>
                <a:ahLst/>
                <a:cxnLst/>
                <a:rect r="r" b="b" t="t" l="l"/>
                <a:pathLst>
                  <a:path h="1663954" w="1920875">
                    <a:moveTo>
                      <a:pt x="0" y="831977"/>
                    </a:moveTo>
                    <a:lnTo>
                      <a:pt x="416052" y="0"/>
                    </a:lnTo>
                    <a:lnTo>
                      <a:pt x="1504823" y="0"/>
                    </a:lnTo>
                    <a:lnTo>
                      <a:pt x="1920875" y="831977"/>
                    </a:lnTo>
                    <a:lnTo>
                      <a:pt x="1504823" y="1663954"/>
                    </a:lnTo>
                    <a:lnTo>
                      <a:pt x="416052" y="1663954"/>
                    </a:lnTo>
                    <a:close/>
                  </a:path>
                </a:pathLst>
              </a:custGeom>
              <a:solidFill>
                <a:srgbClr val="FFC107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2276400" y="305107"/>
              <a:ext cx="1677000" cy="1054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39"/>
                </a:lnSpc>
              </a:pPr>
              <a:r>
                <a:rPr lang="en-US" b="true" sz="5199">
                  <a:solidFill>
                    <a:srgbClr val="151515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01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2054662"/>
              <a:ext cx="6229800" cy="66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0"/>
                </a:lnSpc>
              </a:pPr>
              <a:r>
                <a:rPr lang="en-US" b="true" sz="3300">
                  <a:solidFill>
                    <a:srgbClr val="1F1F1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Profile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2808235"/>
              <a:ext cx="6229800" cy="933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4A4337"/>
                  </a:solidFill>
                  <a:latin typeface="Arimo"/>
                  <a:ea typeface="Arimo"/>
                  <a:cs typeface="Arimo"/>
                  <a:sym typeface="Arimo"/>
                </a:rPr>
                <a:t>Gather user skills, aspirations, education background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413137" y="3222876"/>
            <a:ext cx="5161232" cy="3103483"/>
            <a:chOff x="0" y="0"/>
            <a:chExt cx="6881643" cy="4137978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2480421" y="0"/>
              <a:ext cx="1920800" cy="1664000"/>
              <a:chOff x="0" y="0"/>
              <a:chExt cx="1920800" cy="1664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20875" cy="1663954"/>
              </a:xfrm>
              <a:custGeom>
                <a:avLst/>
                <a:gdLst/>
                <a:ahLst/>
                <a:cxnLst/>
                <a:rect r="r" b="b" t="t" l="l"/>
                <a:pathLst>
                  <a:path h="1663954" w="1920875">
                    <a:moveTo>
                      <a:pt x="0" y="831977"/>
                    </a:moveTo>
                    <a:lnTo>
                      <a:pt x="416052" y="0"/>
                    </a:lnTo>
                    <a:lnTo>
                      <a:pt x="1504823" y="0"/>
                    </a:lnTo>
                    <a:lnTo>
                      <a:pt x="1920875" y="831977"/>
                    </a:lnTo>
                    <a:lnTo>
                      <a:pt x="1504823" y="1663954"/>
                    </a:lnTo>
                    <a:lnTo>
                      <a:pt x="416052" y="1663954"/>
                    </a:lnTo>
                    <a:close/>
                  </a:path>
                </a:pathLst>
              </a:custGeom>
              <a:solidFill>
                <a:srgbClr val="FFC107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2602321" y="304950"/>
              <a:ext cx="1677000" cy="1054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39"/>
                </a:lnSpc>
              </a:pPr>
              <a:r>
                <a:rPr lang="en-US" b="true" sz="5199">
                  <a:solidFill>
                    <a:srgbClr val="151515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03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753515" y="2747328"/>
              <a:ext cx="5619003" cy="1390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4A4337"/>
                  </a:solidFill>
                  <a:latin typeface="Arimo"/>
                  <a:ea typeface="Arimo"/>
                  <a:cs typeface="Arimo"/>
                  <a:sym typeface="Arimo"/>
                </a:rPr>
                <a:t>Provide detailed forecasting, reasoning and breakdowns for each job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2096453"/>
              <a:ext cx="6881643" cy="66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0"/>
                </a:lnSpc>
              </a:pPr>
              <a:r>
                <a:rPr lang="en-US" b="true" sz="3300">
                  <a:solidFill>
                    <a:srgbClr val="1F1F1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Analyze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473554" y="5538881"/>
            <a:ext cx="5256086" cy="2613779"/>
            <a:chOff x="0" y="0"/>
            <a:chExt cx="7008114" cy="3485039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2543657" y="0"/>
              <a:ext cx="1920800" cy="1664000"/>
              <a:chOff x="0" y="0"/>
              <a:chExt cx="1920800" cy="1664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920875" cy="1663954"/>
              </a:xfrm>
              <a:custGeom>
                <a:avLst/>
                <a:gdLst/>
                <a:ahLst/>
                <a:cxnLst/>
                <a:rect r="r" b="b" t="t" l="l"/>
                <a:pathLst>
                  <a:path h="1663954" w="1920875">
                    <a:moveTo>
                      <a:pt x="0" y="831977"/>
                    </a:moveTo>
                    <a:lnTo>
                      <a:pt x="416052" y="0"/>
                    </a:lnTo>
                    <a:lnTo>
                      <a:pt x="1504823" y="0"/>
                    </a:lnTo>
                    <a:lnTo>
                      <a:pt x="1920875" y="831977"/>
                    </a:lnTo>
                    <a:lnTo>
                      <a:pt x="1504823" y="1663954"/>
                    </a:lnTo>
                    <a:lnTo>
                      <a:pt x="416052" y="1663954"/>
                    </a:lnTo>
                    <a:close/>
                  </a:path>
                </a:pathLst>
              </a:custGeom>
              <a:solidFill>
                <a:srgbClr val="FFC107"/>
              </a:solidFill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2665557" y="304950"/>
              <a:ext cx="1677000" cy="1054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39"/>
                </a:lnSpc>
              </a:pPr>
              <a:r>
                <a:rPr lang="en-US" b="true" sz="5199">
                  <a:solidFill>
                    <a:srgbClr val="151515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04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654243" y="2551589"/>
              <a:ext cx="5699627" cy="933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4A4337"/>
                  </a:solidFill>
                  <a:latin typeface="Arimo"/>
                  <a:ea typeface="Arimo"/>
                  <a:cs typeface="Arimo"/>
                  <a:sym typeface="Arimo"/>
                </a:rPr>
                <a:t>Provide personalized roadmaps and challenges for onboarding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1900714"/>
              <a:ext cx="7008114" cy="66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0"/>
                </a:lnSpc>
              </a:pPr>
              <a:r>
                <a:rPr lang="en-US" b="true" sz="3300">
                  <a:solidFill>
                    <a:srgbClr val="1F1F1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Reskill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524000" y="828675"/>
            <a:ext cx="152400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Meet Jobee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3429000" y="2143125"/>
            <a:ext cx="11430000" cy="19050"/>
            <a:chOff x="0" y="0"/>
            <a:chExt cx="15240000" cy="25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240000" cy="25400"/>
            </a:xfrm>
            <a:custGeom>
              <a:avLst/>
              <a:gdLst/>
              <a:ahLst/>
              <a:cxnLst/>
              <a:rect r="r" b="b" t="t" l="l"/>
              <a:pathLst>
                <a:path h="25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FC10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524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29000" y="2143125"/>
            <a:ext cx="11430000" cy="19050"/>
            <a:chOff x="0" y="0"/>
            <a:chExt cx="15240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00" cy="25400"/>
            </a:xfrm>
            <a:custGeom>
              <a:avLst/>
              <a:gdLst/>
              <a:ahLst/>
              <a:cxnLst/>
              <a:rect r="r" b="b" t="t" l="l"/>
              <a:pathLst>
                <a:path h="25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FC10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24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50954" y="2457450"/>
            <a:ext cx="12786092" cy="7194778"/>
            <a:chOff x="0" y="0"/>
            <a:chExt cx="17048122" cy="95930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821911"/>
              <a:ext cx="4366118" cy="4366118"/>
            </a:xfrm>
            <a:custGeom>
              <a:avLst/>
              <a:gdLst/>
              <a:ahLst/>
              <a:cxnLst/>
              <a:rect r="r" b="b" t="t" l="l"/>
              <a:pathLst>
                <a:path h="4366118" w="4366118">
                  <a:moveTo>
                    <a:pt x="0" y="0"/>
                  </a:moveTo>
                  <a:lnTo>
                    <a:pt x="4366118" y="0"/>
                  </a:lnTo>
                  <a:lnTo>
                    <a:pt x="4366118" y="4366118"/>
                  </a:lnTo>
                  <a:lnTo>
                    <a:pt x="0" y="4366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662546"/>
              <a:ext cx="2930491" cy="2930491"/>
            </a:xfrm>
            <a:custGeom>
              <a:avLst/>
              <a:gdLst/>
              <a:ahLst/>
              <a:cxnLst/>
              <a:rect r="r" b="b" t="t" l="l"/>
              <a:pathLst>
                <a:path h="2930491" w="2930491">
                  <a:moveTo>
                    <a:pt x="0" y="0"/>
                  </a:moveTo>
                  <a:lnTo>
                    <a:pt x="2930491" y="0"/>
                  </a:lnTo>
                  <a:lnTo>
                    <a:pt x="2930491" y="2930491"/>
                  </a:lnTo>
                  <a:lnTo>
                    <a:pt x="0" y="2930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574962" y="6662546"/>
              <a:ext cx="2905895" cy="2905895"/>
            </a:xfrm>
            <a:custGeom>
              <a:avLst/>
              <a:gdLst/>
              <a:ahLst/>
              <a:cxnLst/>
              <a:rect r="r" b="b" t="t" l="l"/>
              <a:pathLst>
                <a:path h="2905895" w="2905895">
                  <a:moveTo>
                    <a:pt x="0" y="0"/>
                  </a:moveTo>
                  <a:lnTo>
                    <a:pt x="2905894" y="0"/>
                  </a:lnTo>
                  <a:lnTo>
                    <a:pt x="2905894" y="2905895"/>
                  </a:lnTo>
                  <a:lnTo>
                    <a:pt x="0" y="2905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9125327" y="6662546"/>
              <a:ext cx="2905895" cy="2905895"/>
            </a:xfrm>
            <a:custGeom>
              <a:avLst/>
              <a:gdLst/>
              <a:ahLst/>
              <a:cxnLst/>
              <a:rect r="r" b="b" t="t" l="l"/>
              <a:pathLst>
                <a:path h="2905895" w="2905895">
                  <a:moveTo>
                    <a:pt x="0" y="0"/>
                  </a:moveTo>
                  <a:lnTo>
                    <a:pt x="2905895" y="0"/>
                  </a:lnTo>
                  <a:lnTo>
                    <a:pt x="2905895" y="2905895"/>
                  </a:lnTo>
                  <a:lnTo>
                    <a:pt x="0" y="2905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3669522" y="6662546"/>
              <a:ext cx="2905895" cy="2905895"/>
            </a:xfrm>
            <a:custGeom>
              <a:avLst/>
              <a:gdLst/>
              <a:ahLst/>
              <a:cxnLst/>
              <a:rect r="r" b="b" t="t" l="l"/>
              <a:pathLst>
                <a:path h="2905895" w="2905895">
                  <a:moveTo>
                    <a:pt x="0" y="0"/>
                  </a:moveTo>
                  <a:lnTo>
                    <a:pt x="2905895" y="0"/>
                  </a:lnTo>
                  <a:lnTo>
                    <a:pt x="2905895" y="2905895"/>
                  </a:lnTo>
                  <a:lnTo>
                    <a:pt x="0" y="2905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18097" y="-57150"/>
              <a:ext cx="9783096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399" b="true">
                  <a:solidFill>
                    <a:srgbClr val="D99A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MAIN SDG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009645" y="16363"/>
              <a:ext cx="8272807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399">
                  <a:solidFill>
                    <a:srgbClr val="D99A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OBJECTIVES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009645" y="858520"/>
              <a:ext cx="12038477" cy="3970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28952" indent="-264476" lvl="1">
                <a:lnSpc>
                  <a:spcPts val="4017"/>
                </a:lnSpc>
                <a:spcBef>
                  <a:spcPct val="0"/>
                </a:spcBef>
                <a:buAutoNum type="arabicPeriod" startAt="1"/>
              </a:pPr>
              <a:r>
                <a:rPr lang="en-US" sz="2449" strike="noStrike" u="none">
                  <a:solidFill>
                    <a:srgbClr val="1F1F1F"/>
                  </a:solidFill>
                  <a:latin typeface="Arimo"/>
                  <a:ea typeface="Arimo"/>
                  <a:cs typeface="Arimo"/>
                  <a:sym typeface="Arimo"/>
                </a:rPr>
                <a:t>Reach 1,000 learners on a personalised roadmap within 12 months</a:t>
              </a:r>
            </a:p>
            <a:p>
              <a:pPr algn="l" marL="528952" indent="-264476" lvl="1">
                <a:lnSpc>
                  <a:spcPts val="4017"/>
                </a:lnSpc>
                <a:spcBef>
                  <a:spcPct val="0"/>
                </a:spcBef>
                <a:buAutoNum type="arabicPeriod" startAt="1"/>
              </a:pPr>
              <a:r>
                <a:rPr lang="en-US" sz="2449" strike="noStrike" u="none">
                  <a:solidFill>
                    <a:srgbClr val="1F1F1F"/>
                  </a:solidFill>
                  <a:latin typeface="Arimo"/>
                  <a:ea typeface="Arimo"/>
                  <a:cs typeface="Arimo"/>
                  <a:sym typeface="Arimo"/>
                </a:rPr>
                <a:t>60% of active learners pass a project (85+ score) within 6 months of joining</a:t>
              </a:r>
            </a:p>
            <a:p>
              <a:pPr algn="l" marL="528952" indent="-264476" lvl="1">
                <a:lnSpc>
                  <a:spcPts val="4017"/>
                </a:lnSpc>
                <a:spcBef>
                  <a:spcPct val="0"/>
                </a:spcBef>
                <a:buAutoNum type="arabicPeriod" startAt="1"/>
              </a:pPr>
              <a:r>
                <a:rPr lang="en-US" sz="2449" strike="noStrike" u="none">
                  <a:solidFill>
                    <a:srgbClr val="1F1F1F"/>
                  </a:solidFill>
                  <a:latin typeface="Arimo"/>
                  <a:ea typeface="Arimo"/>
                  <a:cs typeface="Arimo"/>
                  <a:sym typeface="Arimo"/>
                </a:rPr>
                <a:t>Pilot with 5 universities by Dec 2027, with skill-gap reports</a:t>
              </a:r>
            </a:p>
            <a:p>
              <a:pPr algn="l" marL="528952" indent="-264476" lvl="1">
                <a:lnSpc>
                  <a:spcPts val="4017"/>
                </a:lnSpc>
                <a:spcBef>
                  <a:spcPct val="0"/>
                </a:spcBef>
                <a:buAutoNum type="arabicPeriod" startAt="1"/>
              </a:pPr>
              <a:r>
                <a:rPr lang="en-US" sz="2449" strike="noStrike" u="none">
                  <a:solidFill>
                    <a:srgbClr val="1F1F1F"/>
                  </a:solidFill>
                  <a:latin typeface="Arimo"/>
                  <a:ea typeface="Arimo"/>
                  <a:cs typeface="Arimo"/>
                  <a:sym typeface="Arimo"/>
                </a:rPr>
                <a:t>Keep core learning 100% free, funded by institution licences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5784976"/>
              <a:ext cx="9783096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399" b="true">
                  <a:solidFill>
                    <a:srgbClr val="D99A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RELEVANT SDGS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524000" y="828675"/>
            <a:ext cx="152400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Jobee’s Objectives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15500" y="2190750"/>
            <a:ext cx="5905500" cy="5905500"/>
            <a:chOff x="0" y="0"/>
            <a:chExt cx="7874000" cy="787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635" y="0"/>
              <a:ext cx="7874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7874000">
                  <a:moveTo>
                    <a:pt x="3937635" y="0"/>
                  </a:moveTo>
                  <a:cubicBezTo>
                    <a:pt x="6111856" y="351"/>
                    <a:pt x="7874175" y="1763096"/>
                    <a:pt x="7874000" y="3937317"/>
                  </a:cubicBezTo>
                  <a:cubicBezTo>
                    <a:pt x="7873825" y="6111539"/>
                    <a:pt x="6111221" y="7874000"/>
                    <a:pt x="3937000" y="7874000"/>
                  </a:cubicBezTo>
                  <a:cubicBezTo>
                    <a:pt x="1762779" y="7874000"/>
                    <a:pt x="175" y="6111539"/>
                    <a:pt x="0" y="3937317"/>
                  </a:cubicBezTo>
                  <a:cubicBezTo>
                    <a:pt x="-175" y="1763096"/>
                    <a:pt x="1762144" y="351"/>
                    <a:pt x="3936365" y="0"/>
                  </a:cubicBezTo>
                  <a:close/>
                </a:path>
              </a:pathLst>
            </a:custGeom>
            <a:solidFill>
              <a:srgbClr val="FFEDB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874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rot="7641">
            <a:off x="-9536" y="1079000"/>
            <a:ext cx="8570271" cy="0"/>
          </a:xfrm>
          <a:prstGeom prst="line">
            <a:avLst/>
          </a:prstGeom>
          <a:ln cap="rnd" w="9525">
            <a:solidFill>
              <a:srgbClr val="E0A400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9" id="9"/>
          <p:cNvSpPr/>
          <p:nvPr/>
        </p:nvSpPr>
        <p:spPr>
          <a:xfrm rot="7641">
            <a:off x="9727264" y="9208000"/>
            <a:ext cx="8570271" cy="0"/>
          </a:xfrm>
          <a:prstGeom prst="line">
            <a:avLst/>
          </a:prstGeom>
          <a:ln cap="rnd" w="9525">
            <a:solidFill>
              <a:srgbClr val="E0A400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3195398" y="-25400"/>
            <a:ext cx="5092602" cy="5421352"/>
          </a:xfrm>
          <a:custGeom>
            <a:avLst/>
            <a:gdLst/>
            <a:ahLst/>
            <a:cxnLst/>
            <a:rect r="r" b="b" t="t" l="l"/>
            <a:pathLst>
              <a:path h="5421352" w="5092602">
                <a:moveTo>
                  <a:pt x="0" y="0"/>
                </a:moveTo>
                <a:lnTo>
                  <a:pt x="5092602" y="0"/>
                </a:lnTo>
                <a:lnTo>
                  <a:pt x="5092602" y="5421352"/>
                </a:lnTo>
                <a:lnTo>
                  <a:pt x="0" y="5421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599" t="0" r="0" b="-7082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" y="7127348"/>
            <a:ext cx="4486000" cy="3159652"/>
          </a:xfrm>
          <a:custGeom>
            <a:avLst/>
            <a:gdLst/>
            <a:ahLst/>
            <a:cxnLst/>
            <a:rect r="r" b="b" t="t" l="l"/>
            <a:pathLst>
              <a:path h="3159652" w="4486000">
                <a:moveTo>
                  <a:pt x="0" y="0"/>
                </a:moveTo>
                <a:lnTo>
                  <a:pt x="4486000" y="0"/>
                </a:lnTo>
                <a:lnTo>
                  <a:pt x="4486000" y="3159652"/>
                </a:lnTo>
                <a:lnTo>
                  <a:pt x="0" y="31596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320" t="0" r="0" b="-1044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37797" y="3118125"/>
            <a:ext cx="6795702" cy="405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10"/>
              </a:lnSpc>
            </a:pPr>
            <a:r>
              <a:rPr lang="en-US" b="true" sz="13258">
                <a:solidFill>
                  <a:srgbClr val="1F1F1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Live Demo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990715" y="3461278"/>
            <a:ext cx="3373969" cy="3373969"/>
          </a:xfrm>
          <a:custGeom>
            <a:avLst/>
            <a:gdLst/>
            <a:ahLst/>
            <a:cxnLst/>
            <a:rect r="r" b="b" t="t" l="l"/>
            <a:pathLst>
              <a:path h="3373969" w="3373969">
                <a:moveTo>
                  <a:pt x="0" y="0"/>
                </a:moveTo>
                <a:lnTo>
                  <a:pt x="3373969" y="0"/>
                </a:lnTo>
                <a:lnTo>
                  <a:pt x="3373969" y="3373969"/>
                </a:lnTo>
                <a:lnTo>
                  <a:pt x="0" y="3373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24000" y="828675"/>
            <a:ext cx="152400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Monetization Strategy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429000" y="2143125"/>
            <a:ext cx="11430000" cy="19050"/>
            <a:chOff x="0" y="0"/>
            <a:chExt cx="15240000" cy="25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0" cy="25400"/>
            </a:xfrm>
            <a:custGeom>
              <a:avLst/>
              <a:gdLst/>
              <a:ahLst/>
              <a:cxnLst/>
              <a:rect r="r" b="b" t="t" l="l"/>
              <a:pathLst>
                <a:path h="25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FC10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24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24000" y="3303270"/>
            <a:ext cx="7429500" cy="3619500"/>
            <a:chOff x="0" y="0"/>
            <a:chExt cx="9906000" cy="482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060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9906000">
                  <a:moveTo>
                    <a:pt x="406400" y="0"/>
                  </a:moveTo>
                  <a:lnTo>
                    <a:pt x="9499600" y="0"/>
                  </a:lnTo>
                  <a:cubicBezTo>
                    <a:pt x="9724048" y="0"/>
                    <a:pt x="9906000" y="181951"/>
                    <a:pt x="9906000" y="406400"/>
                  </a:cubicBezTo>
                  <a:lnTo>
                    <a:pt x="9906000" y="4419600"/>
                  </a:lnTo>
                  <a:cubicBezTo>
                    <a:pt x="9906000" y="4644049"/>
                    <a:pt x="9724048" y="4826000"/>
                    <a:pt x="9499600" y="4826000"/>
                  </a:cubicBezTo>
                  <a:lnTo>
                    <a:pt x="406400" y="4826000"/>
                  </a:lnTo>
                  <a:cubicBezTo>
                    <a:pt x="181951" y="4826000"/>
                    <a:pt x="0" y="4644049"/>
                    <a:pt x="0" y="44196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C107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9060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34500" y="3303270"/>
            <a:ext cx="7429500" cy="3619500"/>
            <a:chOff x="0" y="0"/>
            <a:chExt cx="9906000" cy="482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060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9906000">
                  <a:moveTo>
                    <a:pt x="406400" y="0"/>
                  </a:moveTo>
                  <a:lnTo>
                    <a:pt x="9499600" y="0"/>
                  </a:lnTo>
                  <a:cubicBezTo>
                    <a:pt x="9724048" y="0"/>
                    <a:pt x="9906000" y="181951"/>
                    <a:pt x="9906000" y="406400"/>
                  </a:cubicBezTo>
                  <a:lnTo>
                    <a:pt x="9906000" y="4419600"/>
                  </a:lnTo>
                  <a:cubicBezTo>
                    <a:pt x="9906000" y="4644049"/>
                    <a:pt x="9724048" y="4826000"/>
                    <a:pt x="9499600" y="4826000"/>
                  </a:cubicBezTo>
                  <a:lnTo>
                    <a:pt x="406400" y="4826000"/>
                  </a:lnTo>
                  <a:cubicBezTo>
                    <a:pt x="181951" y="4826000"/>
                    <a:pt x="0" y="4644049"/>
                    <a:pt x="0" y="44196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C107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9060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24000" y="2266950"/>
            <a:ext cx="1524000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4A4337"/>
                </a:solidFill>
                <a:latin typeface="Arimo"/>
                <a:ea typeface="Arimo"/>
                <a:cs typeface="Arimo"/>
                <a:sym typeface="Arimo"/>
              </a:rPr>
              <a:t>Free to start for learners. Paid for by the institutions that need verified skills.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05000" y="3493770"/>
            <a:ext cx="6667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D99A00"/>
                </a:solidFill>
                <a:latin typeface="Arimo Bold"/>
                <a:ea typeface="Arimo Bold"/>
                <a:cs typeface="Arimo Bold"/>
                <a:sym typeface="Arimo Bold"/>
              </a:rPr>
              <a:t>PRIMARY REVENUE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05000" y="3798570"/>
            <a:ext cx="666750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Universities &amp; Schools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05000" y="4665345"/>
            <a:ext cx="6667500" cy="1986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Annual licence per programme or cohort</a:t>
            </a:r>
          </a:p>
          <a:p>
            <a:pPr algn="l" marL="453390" indent="-226695" lvl="1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Class dashboard with progress and skill-gap reports</a:t>
            </a:r>
          </a:p>
          <a:p>
            <a:pPr algn="l" marL="453390" indent="-226695" lvl="1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Educators set their own SDG-linked challenges</a:t>
            </a:r>
          </a:p>
          <a:p>
            <a:pPr algn="l" marL="453390" indent="-226695" lvl="1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Ready-made project-based curriculum</a:t>
            </a:r>
          </a:p>
          <a:p>
            <a:pPr algn="l">
              <a:lnSpc>
                <a:spcPts val="315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715500" y="3493770"/>
            <a:ext cx="6667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D99A00"/>
                </a:solidFill>
                <a:latin typeface="Arimo Bold"/>
                <a:ea typeface="Arimo Bold"/>
                <a:cs typeface="Arimo Bold"/>
                <a:sym typeface="Arimo Bold"/>
              </a:rPr>
              <a:t>FREEMIUM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15500" y="3798570"/>
            <a:ext cx="666750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Learners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15500" y="4665345"/>
            <a:ext cx="6667500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U</a:t>
            </a:r>
            <a:r>
              <a:rPr lang="en-US" sz="21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nlimited challenges</a:t>
            </a:r>
          </a:p>
          <a:p>
            <a:pPr algn="l" marL="453390" indent="-226695" lvl="1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Auto-generated posts from your projects</a:t>
            </a:r>
          </a:p>
          <a:p>
            <a:pPr algn="l" marL="453390" indent="-226695" lvl="1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Verified certifications as we scale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810145" y="7378065"/>
            <a:ext cx="12667711" cy="1880235"/>
            <a:chOff x="0" y="0"/>
            <a:chExt cx="16890281" cy="250698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7747000" y="0"/>
              <a:ext cx="1397000" cy="1397000"/>
              <a:chOff x="0" y="0"/>
              <a:chExt cx="1397000" cy="1397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397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397000">
                    <a:moveTo>
                      <a:pt x="698500" y="0"/>
                    </a:moveTo>
                    <a:cubicBezTo>
                      <a:pt x="1084271" y="0"/>
                      <a:pt x="1397000" y="312729"/>
                      <a:pt x="1397000" y="698500"/>
                    </a:cubicBezTo>
                    <a:cubicBezTo>
                      <a:pt x="1397000" y="1084271"/>
                      <a:pt x="1084271" y="1397000"/>
                      <a:pt x="698500" y="1397000"/>
                    </a:cubicBezTo>
                    <a:cubicBezTo>
                      <a:pt x="312729" y="1397000"/>
                      <a:pt x="0" y="1084271"/>
                      <a:pt x="0" y="698500"/>
                    </a:cubicBezTo>
                    <a:cubicBezTo>
                      <a:pt x="0" y="312729"/>
                      <a:pt x="312729" y="0"/>
                      <a:pt x="698500" y="0"/>
                    </a:cubicBezTo>
                    <a:close/>
                  </a:path>
                </a:pathLst>
              </a:custGeom>
              <a:solidFill>
                <a:srgbClr val="FFC107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39700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8064500" y="317500"/>
              <a:ext cx="762000" cy="762000"/>
              <a:chOff x="0" y="0"/>
              <a:chExt cx="762000" cy="762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63500" y="63500"/>
                <a:ext cx="635000" cy="603250"/>
              </a:xfrm>
              <a:custGeom>
                <a:avLst/>
                <a:gdLst/>
                <a:ahLst/>
                <a:cxnLst/>
                <a:rect r="r" b="b" t="t" l="l"/>
                <a:pathLst>
                  <a:path h="603250" w="635000">
                    <a:moveTo>
                      <a:pt x="317500" y="0"/>
                    </a:moveTo>
                    <a:lnTo>
                      <a:pt x="409575" y="209550"/>
                    </a:lnTo>
                    <a:lnTo>
                      <a:pt x="635000" y="231775"/>
                    </a:lnTo>
                    <a:lnTo>
                      <a:pt x="463550" y="381000"/>
                    </a:lnTo>
                    <a:lnTo>
                      <a:pt x="514350" y="603250"/>
                    </a:lnTo>
                    <a:lnTo>
                      <a:pt x="317500" y="485775"/>
                    </a:lnTo>
                    <a:lnTo>
                      <a:pt x="120650" y="603250"/>
                    </a:lnTo>
                    <a:lnTo>
                      <a:pt x="171450" y="381000"/>
                    </a:lnTo>
                    <a:lnTo>
                      <a:pt x="0" y="231775"/>
                    </a:lnTo>
                    <a:lnTo>
                      <a:pt x="225425" y="209550"/>
                    </a:lnTo>
                    <a:close/>
                  </a:path>
                </a:pathLst>
              </a:custGeom>
              <a:solidFill>
                <a:srgbClr val="1F1F1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762000" cy="80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4398847" y="444500"/>
              <a:ext cx="2540000" cy="508000"/>
              <a:chOff x="0" y="0"/>
              <a:chExt cx="2540000" cy="508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50800"/>
                <a:ext cx="24765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476500">
                    <a:moveTo>
                      <a:pt x="0" y="152400"/>
                    </a:moveTo>
                    <a:lnTo>
                      <a:pt x="2095500" y="152400"/>
                    </a:lnTo>
                    <a:lnTo>
                      <a:pt x="2095500" y="0"/>
                    </a:lnTo>
                    <a:lnTo>
                      <a:pt x="2476500" y="203200"/>
                    </a:lnTo>
                    <a:lnTo>
                      <a:pt x="2095500" y="406400"/>
                    </a:lnTo>
                    <a:lnTo>
                      <a:pt x="2095500" y="254000"/>
                    </a:lnTo>
                    <a:lnTo>
                      <a:pt x="0" y="254000"/>
                    </a:lnTo>
                    <a:close/>
                  </a:path>
                </a:pathLst>
              </a:custGeom>
              <a:solidFill>
                <a:srgbClr val="D99A00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2540000" cy="54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9956800" y="480060"/>
              <a:ext cx="2540000" cy="508000"/>
              <a:chOff x="0" y="0"/>
              <a:chExt cx="2540000" cy="508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50800"/>
                <a:ext cx="24765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476500">
                    <a:moveTo>
                      <a:pt x="0" y="152400"/>
                    </a:moveTo>
                    <a:lnTo>
                      <a:pt x="2095500" y="152400"/>
                    </a:lnTo>
                    <a:lnTo>
                      <a:pt x="2095500" y="0"/>
                    </a:lnTo>
                    <a:lnTo>
                      <a:pt x="2476500" y="203200"/>
                    </a:lnTo>
                    <a:lnTo>
                      <a:pt x="2095500" y="406400"/>
                    </a:lnTo>
                    <a:lnTo>
                      <a:pt x="2095500" y="254000"/>
                    </a:lnTo>
                    <a:lnTo>
                      <a:pt x="0" y="254000"/>
                    </a:lnTo>
                    <a:close/>
                  </a:path>
                </a:pathLst>
              </a:custGeom>
              <a:solidFill>
                <a:srgbClr val="D99A00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2540000" cy="54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2222500" y="0"/>
              <a:ext cx="1397000" cy="1397000"/>
              <a:chOff x="0" y="0"/>
              <a:chExt cx="1397000" cy="13970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397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397000">
                    <a:moveTo>
                      <a:pt x="698500" y="0"/>
                    </a:moveTo>
                    <a:cubicBezTo>
                      <a:pt x="1084271" y="0"/>
                      <a:pt x="1397000" y="312729"/>
                      <a:pt x="1397000" y="698500"/>
                    </a:cubicBezTo>
                    <a:cubicBezTo>
                      <a:pt x="1397000" y="1084271"/>
                      <a:pt x="1084271" y="1397000"/>
                      <a:pt x="698500" y="1397000"/>
                    </a:cubicBezTo>
                    <a:cubicBezTo>
                      <a:pt x="312729" y="1397000"/>
                      <a:pt x="0" y="1084271"/>
                      <a:pt x="0" y="698500"/>
                    </a:cubicBezTo>
                    <a:cubicBezTo>
                      <a:pt x="0" y="312729"/>
                      <a:pt x="312729" y="0"/>
                      <a:pt x="698500" y="0"/>
                    </a:cubicBezTo>
                    <a:close/>
                  </a:path>
                </a:pathLst>
              </a:custGeom>
              <a:solidFill>
                <a:srgbClr val="FFC107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39700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2540000" y="317500"/>
              <a:ext cx="762000" cy="762000"/>
              <a:chOff x="0" y="0"/>
              <a:chExt cx="762000" cy="7620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63500" y="95250"/>
                <a:ext cx="635000" cy="603250"/>
              </a:xfrm>
              <a:custGeom>
                <a:avLst/>
                <a:gdLst/>
                <a:ahLst/>
                <a:cxnLst/>
                <a:rect r="r" b="b" t="t" l="l"/>
                <a:pathLst>
                  <a:path h="603250" w="635000">
                    <a:moveTo>
                      <a:pt x="317500" y="0"/>
                    </a:moveTo>
                    <a:lnTo>
                      <a:pt x="0" y="190500"/>
                    </a:lnTo>
                    <a:lnTo>
                      <a:pt x="635000" y="190500"/>
                    </a:lnTo>
                    <a:close/>
                    <a:moveTo>
                      <a:pt x="63500" y="254000"/>
                    </a:moveTo>
                    <a:lnTo>
                      <a:pt x="158750" y="254000"/>
                    </a:lnTo>
                    <a:lnTo>
                      <a:pt x="158750" y="476250"/>
                    </a:lnTo>
                    <a:lnTo>
                      <a:pt x="63500" y="476250"/>
                    </a:lnTo>
                    <a:close/>
                    <a:moveTo>
                      <a:pt x="269875" y="254000"/>
                    </a:moveTo>
                    <a:lnTo>
                      <a:pt x="365125" y="254000"/>
                    </a:lnTo>
                    <a:lnTo>
                      <a:pt x="365125" y="476250"/>
                    </a:lnTo>
                    <a:lnTo>
                      <a:pt x="269875" y="476250"/>
                    </a:lnTo>
                    <a:close/>
                    <a:moveTo>
                      <a:pt x="476250" y="254000"/>
                    </a:moveTo>
                    <a:lnTo>
                      <a:pt x="571500" y="254000"/>
                    </a:lnTo>
                    <a:lnTo>
                      <a:pt x="571500" y="476250"/>
                    </a:lnTo>
                    <a:lnTo>
                      <a:pt x="476250" y="476250"/>
                    </a:lnTo>
                    <a:close/>
                    <a:moveTo>
                      <a:pt x="0" y="539750"/>
                    </a:moveTo>
                    <a:lnTo>
                      <a:pt x="635000" y="539750"/>
                    </a:lnTo>
                    <a:lnTo>
                      <a:pt x="635000" y="603250"/>
                    </a:lnTo>
                    <a:lnTo>
                      <a:pt x="0" y="603250"/>
                    </a:lnTo>
                    <a:close/>
                  </a:path>
                </a:pathLst>
              </a:custGeom>
              <a:solidFill>
                <a:srgbClr val="1F1F1F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762000" cy="80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0" y="1466850"/>
              <a:ext cx="5842000" cy="514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D99A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NOW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2035175"/>
              <a:ext cx="5842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F1F1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Free university pilots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5524500" y="1466850"/>
              <a:ext cx="5842000" cy="514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D99A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NEXT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5524500" y="2035175"/>
              <a:ext cx="5842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F1F1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Paid licences + Plus</a:t>
              </a:r>
            </a:p>
          </p:txBody>
        </p:sp>
        <p:grpSp>
          <p:nvGrpSpPr>
            <p:cNvPr name="Group 45" id="45"/>
            <p:cNvGrpSpPr/>
            <p:nvPr/>
          </p:nvGrpSpPr>
          <p:grpSpPr>
            <a:xfrm rot="0">
              <a:off x="13270781" y="0"/>
              <a:ext cx="1397000" cy="1397000"/>
              <a:chOff x="0" y="0"/>
              <a:chExt cx="1397000" cy="13970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397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397000">
                    <a:moveTo>
                      <a:pt x="698500" y="0"/>
                    </a:moveTo>
                    <a:cubicBezTo>
                      <a:pt x="1084271" y="0"/>
                      <a:pt x="1397000" y="312729"/>
                      <a:pt x="1397000" y="698500"/>
                    </a:cubicBezTo>
                    <a:cubicBezTo>
                      <a:pt x="1397000" y="1084271"/>
                      <a:pt x="1084271" y="1397000"/>
                      <a:pt x="698500" y="1397000"/>
                    </a:cubicBezTo>
                    <a:cubicBezTo>
                      <a:pt x="312729" y="1397000"/>
                      <a:pt x="0" y="1084271"/>
                      <a:pt x="0" y="698500"/>
                    </a:cubicBezTo>
                    <a:cubicBezTo>
                      <a:pt x="0" y="312729"/>
                      <a:pt x="312729" y="0"/>
                      <a:pt x="698500" y="0"/>
                    </a:cubicBezTo>
                    <a:close/>
                  </a:path>
                </a:pathLst>
              </a:custGeom>
              <a:solidFill>
                <a:srgbClr val="FFC107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139700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13588281" y="317500"/>
              <a:ext cx="762000" cy="762000"/>
              <a:chOff x="0" y="0"/>
              <a:chExt cx="762000" cy="7620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95250" y="95250"/>
                <a:ext cx="571500" cy="603250"/>
              </a:xfrm>
              <a:custGeom>
                <a:avLst/>
                <a:gdLst/>
                <a:ahLst/>
                <a:cxnLst/>
                <a:rect r="r" b="b" t="t" l="l"/>
                <a:pathLst>
                  <a:path h="603250" w="571500">
                    <a:moveTo>
                      <a:pt x="0" y="0"/>
                    </a:moveTo>
                    <a:lnTo>
                      <a:pt x="571500" y="0"/>
                    </a:lnTo>
                    <a:lnTo>
                      <a:pt x="571500" y="412750"/>
                    </a:lnTo>
                    <a:lnTo>
                      <a:pt x="0" y="412750"/>
                    </a:lnTo>
                    <a:close/>
                    <a:moveTo>
                      <a:pt x="63500" y="63500"/>
                    </a:moveTo>
                    <a:lnTo>
                      <a:pt x="63500" y="349250"/>
                    </a:lnTo>
                    <a:lnTo>
                      <a:pt x="508000" y="349250"/>
                    </a:lnTo>
                    <a:lnTo>
                      <a:pt x="508000" y="63500"/>
                    </a:lnTo>
                    <a:close/>
                    <a:moveTo>
                      <a:pt x="127000" y="127000"/>
                    </a:moveTo>
                    <a:lnTo>
                      <a:pt x="444500" y="127000"/>
                    </a:lnTo>
                    <a:lnTo>
                      <a:pt x="444500" y="174625"/>
                    </a:lnTo>
                    <a:lnTo>
                      <a:pt x="127000" y="174625"/>
                    </a:lnTo>
                    <a:close/>
                    <a:moveTo>
                      <a:pt x="127000" y="222250"/>
                    </a:moveTo>
                    <a:lnTo>
                      <a:pt x="349250" y="222250"/>
                    </a:lnTo>
                    <a:lnTo>
                      <a:pt x="349250" y="269875"/>
                    </a:lnTo>
                    <a:lnTo>
                      <a:pt x="127000" y="269875"/>
                    </a:lnTo>
                    <a:close/>
                    <a:moveTo>
                      <a:pt x="285750" y="381000"/>
                    </a:moveTo>
                    <a:cubicBezTo>
                      <a:pt x="347123" y="381000"/>
                      <a:pt x="396875" y="430752"/>
                      <a:pt x="396875" y="492125"/>
                    </a:cubicBezTo>
                    <a:cubicBezTo>
                      <a:pt x="396875" y="553498"/>
                      <a:pt x="347123" y="603250"/>
                      <a:pt x="285750" y="603250"/>
                    </a:cubicBezTo>
                    <a:cubicBezTo>
                      <a:pt x="224377" y="603250"/>
                      <a:pt x="174625" y="553498"/>
                      <a:pt x="174625" y="492125"/>
                    </a:cubicBezTo>
                    <a:cubicBezTo>
                      <a:pt x="174625" y="430752"/>
                      <a:pt x="224377" y="381000"/>
                      <a:pt x="285750" y="381000"/>
                    </a:cubicBezTo>
                    <a:close/>
                  </a:path>
                </a:pathLst>
              </a:custGeom>
              <a:solidFill>
                <a:srgbClr val="1F1F1F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762000" cy="80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11048281" y="1466850"/>
              <a:ext cx="5842000" cy="514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D99A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LATER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11048281" y="2035175"/>
              <a:ext cx="5842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F1F1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Verified certifications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24000" y="828675"/>
            <a:ext cx="152400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References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429000" y="2143125"/>
            <a:ext cx="11430000" cy="19050"/>
            <a:chOff x="0" y="0"/>
            <a:chExt cx="15240000" cy="25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0" cy="25400"/>
            </a:xfrm>
            <a:custGeom>
              <a:avLst/>
              <a:gdLst/>
              <a:ahLst/>
              <a:cxnLst/>
              <a:rect r="r" b="b" t="t" l="l"/>
              <a:pathLst>
                <a:path h="25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FC10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24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24000" y="2428875"/>
            <a:ext cx="15240000" cy="500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100">
                <a:solidFill>
                  <a:srgbClr val="4A4337"/>
                </a:solidFill>
                <a:latin typeface="Arimo"/>
                <a:ea typeface="Arimo"/>
                <a:cs typeface="Arimo"/>
                <a:sym typeface="Arimo"/>
              </a:rPr>
              <a:t>[1] Dept. of Statistics Malaysia (2026). Labour Force, Malaysia, December 2025, pp. 5–6. storage.dosm.gov.my/labour/lfs_month_2025-12_en.pdf</a:t>
            </a:r>
          </a:p>
          <a:p>
            <a:pPr algn="l">
              <a:lnSpc>
                <a:spcPts val="3990"/>
              </a:lnSpc>
            </a:pPr>
            <a:r>
              <a:rPr lang="en-US" sz="2100">
                <a:solidFill>
                  <a:srgbClr val="4A4337"/>
                </a:solidFill>
                <a:latin typeface="Arimo"/>
                <a:ea typeface="Arimo"/>
                <a:cs typeface="Arimo"/>
                <a:sym typeface="Arimo"/>
              </a:rPr>
              <a:t>[2] United Nations. Sustainable Development Goals 4, 8 and 9 (targets 4.4 and 8.6). sdgs.un.org/goals</a:t>
            </a:r>
          </a:p>
          <a:p>
            <a:pPr algn="l">
              <a:lnSpc>
                <a:spcPts val="3990"/>
              </a:lnSpc>
            </a:pPr>
            <a:r>
              <a:rPr lang="en-US" sz="2100">
                <a:solidFill>
                  <a:srgbClr val="4A4337"/>
                </a:solidFill>
                <a:latin typeface="Arimo"/>
                <a:ea typeface="Arimo"/>
                <a:cs typeface="Arimo"/>
                <a:sym typeface="Arimo"/>
              </a:rPr>
              <a:t>[3] U.S. Dept. of Labor, ETA. O*NET 31.0 Database (CC-BY-4.0). onetcenter.org/database.html</a:t>
            </a:r>
          </a:p>
          <a:p>
            <a:pPr algn="l">
              <a:lnSpc>
                <a:spcPts val="3990"/>
              </a:lnSpc>
            </a:pPr>
            <a:r>
              <a:rPr lang="en-US" sz="2100">
                <a:solidFill>
                  <a:srgbClr val="4A4337"/>
                </a:solidFill>
                <a:latin typeface="Arimo"/>
                <a:ea typeface="Arimo"/>
                <a:cs typeface="Arimo"/>
                <a:sym typeface="Arimo"/>
              </a:rPr>
              <a:t>[4] Indeed Hiring Lab. Job Postings Index and AI Tracker (CC-BY-4.0). github.com/hiring-lab</a:t>
            </a:r>
          </a:p>
          <a:p>
            <a:pPr algn="l">
              <a:lnSpc>
                <a:spcPts val="3990"/>
              </a:lnSpc>
            </a:pPr>
            <a:r>
              <a:rPr lang="en-US" sz="2100">
                <a:solidFill>
                  <a:srgbClr val="4A4337"/>
                </a:solidFill>
                <a:latin typeface="Arimo"/>
                <a:ea typeface="Arimo"/>
                <a:cs typeface="Arimo"/>
                <a:sym typeface="Arimo"/>
              </a:rPr>
              <a:t>[5] Anthropic. Economic Index, release 2026-06-26. huggingface.co/datasets/Anthropic/EconomicIndex</a:t>
            </a:r>
          </a:p>
          <a:p>
            <a:pPr algn="l">
              <a:lnSpc>
                <a:spcPts val="3990"/>
              </a:lnSpc>
            </a:pPr>
            <a:r>
              <a:rPr lang="en-US" sz="2100">
                <a:solidFill>
                  <a:srgbClr val="4A4337"/>
                </a:solidFill>
                <a:latin typeface="Arimo"/>
                <a:ea typeface="Arimo"/>
                <a:cs typeface="Arimo"/>
                <a:sym typeface="Arimo"/>
              </a:rPr>
              <a:t>[6] U.S. Census Bureau. Business Trends and Outlook Survey (BTOS). census.gov/hfp/btos</a:t>
            </a:r>
          </a:p>
          <a:p>
            <a:pPr algn="l">
              <a:lnSpc>
                <a:spcPts val="3990"/>
              </a:lnSpc>
            </a:pPr>
            <a:r>
              <a:rPr lang="en-US" sz="2100">
                <a:solidFill>
                  <a:srgbClr val="4A4337"/>
                </a:solidFill>
                <a:latin typeface="Arimo"/>
                <a:ea typeface="Arimo"/>
                <a:cs typeface="Arimo"/>
                <a:sym typeface="Arimo"/>
              </a:rPr>
              <a:t>[7] METR time horizons and Epoch AI benchmark data. metr.org/time-horizons · epoch.ai/benchmarks</a:t>
            </a:r>
          </a:p>
          <a:p>
            <a:pPr algn="l">
              <a:lnSpc>
                <a:spcPts val="3990"/>
              </a:lnSpc>
            </a:pPr>
            <a:r>
              <a:rPr lang="en-US" sz="2100">
                <a:solidFill>
                  <a:srgbClr val="4A4337"/>
                </a:solidFill>
                <a:latin typeface="Arimo"/>
                <a:ea typeface="Arimo"/>
                <a:cs typeface="Arimo"/>
                <a:sym typeface="Arimo"/>
              </a:rPr>
              <a:t>[8] Worker GenAI-use survey (RPS), via FRED, Federal Reserve Bank of St. Louis. fred.stlouisfed.org</a:t>
            </a:r>
          </a:p>
          <a:p>
            <a:pPr algn="l">
              <a:lnSpc>
                <a:spcPts val="3990"/>
              </a:lnSpc>
            </a:pPr>
            <a:r>
              <a:rPr lang="en-US" sz="2100">
                <a:solidFill>
                  <a:srgbClr val="4A4337"/>
                </a:solidFill>
                <a:latin typeface="Arimo"/>
                <a:ea typeface="Arimo"/>
                <a:cs typeface="Arimo"/>
                <a:sym typeface="Arimo"/>
              </a:rPr>
              <a:t>[9] Slide template by Slidesgo, with icons by Flaticon and images by Freepik (see the Thanks slide).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rot="7641">
            <a:off x="-9536" y="1079000"/>
            <a:ext cx="8570271" cy="0"/>
          </a:xfrm>
          <a:prstGeom prst="line">
            <a:avLst/>
          </a:prstGeom>
          <a:ln cap="rnd" w="9525">
            <a:solidFill>
              <a:srgbClr val="E0A400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6" id="6"/>
          <p:cNvSpPr/>
          <p:nvPr/>
        </p:nvSpPr>
        <p:spPr>
          <a:xfrm rot="7641">
            <a:off x="9727264" y="9208000"/>
            <a:ext cx="8570271" cy="0"/>
          </a:xfrm>
          <a:prstGeom prst="line">
            <a:avLst/>
          </a:prstGeom>
          <a:ln cap="rnd" w="9525">
            <a:solidFill>
              <a:srgbClr val="E0A400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-10800000">
            <a:off x="13195398" y="-25400"/>
            <a:ext cx="5092602" cy="5421352"/>
          </a:xfrm>
          <a:custGeom>
            <a:avLst/>
            <a:gdLst/>
            <a:ahLst/>
            <a:cxnLst/>
            <a:rect r="r" b="b" t="t" l="l"/>
            <a:pathLst>
              <a:path h="5421352" w="5092602">
                <a:moveTo>
                  <a:pt x="0" y="0"/>
                </a:moveTo>
                <a:lnTo>
                  <a:pt x="5092602" y="0"/>
                </a:lnTo>
                <a:lnTo>
                  <a:pt x="5092602" y="5421352"/>
                </a:lnTo>
                <a:lnTo>
                  <a:pt x="0" y="5421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599" t="0" r="0" b="-708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" y="7127348"/>
            <a:ext cx="4486000" cy="3159652"/>
          </a:xfrm>
          <a:custGeom>
            <a:avLst/>
            <a:gdLst/>
            <a:ahLst/>
            <a:cxnLst/>
            <a:rect r="r" b="b" t="t" l="l"/>
            <a:pathLst>
              <a:path h="3159652" w="4486000">
                <a:moveTo>
                  <a:pt x="0" y="0"/>
                </a:moveTo>
                <a:lnTo>
                  <a:pt x="4486000" y="0"/>
                </a:lnTo>
                <a:lnTo>
                  <a:pt x="4486000" y="3159652"/>
                </a:lnTo>
                <a:lnTo>
                  <a:pt x="0" y="31596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320" t="0" r="0" b="-10449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135725" y="2675201"/>
            <a:ext cx="11183100" cy="4936598"/>
            <a:chOff x="0" y="0"/>
            <a:chExt cx="14910800" cy="658213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8328670" y="0"/>
              <a:ext cx="6582131" cy="6582131"/>
              <a:chOff x="0" y="0"/>
              <a:chExt cx="7874000" cy="7874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-635" y="0"/>
                <a:ext cx="7874000" cy="7874000"/>
              </a:xfrm>
              <a:custGeom>
                <a:avLst/>
                <a:gdLst/>
                <a:ahLst/>
                <a:cxnLst/>
                <a:rect r="r" b="b" t="t" l="l"/>
                <a:pathLst>
                  <a:path h="7874000" w="7874000">
                    <a:moveTo>
                      <a:pt x="3937635" y="0"/>
                    </a:moveTo>
                    <a:cubicBezTo>
                      <a:pt x="6111856" y="351"/>
                      <a:pt x="7874175" y="1763096"/>
                      <a:pt x="7874000" y="3937317"/>
                    </a:cubicBezTo>
                    <a:cubicBezTo>
                      <a:pt x="7873825" y="6111539"/>
                      <a:pt x="6111221" y="7874000"/>
                      <a:pt x="3937000" y="7874000"/>
                    </a:cubicBezTo>
                    <a:cubicBezTo>
                      <a:pt x="1762779" y="7874000"/>
                      <a:pt x="175" y="6111539"/>
                      <a:pt x="0" y="3937317"/>
                    </a:cubicBezTo>
                    <a:cubicBezTo>
                      <a:pt x="-175" y="1763096"/>
                      <a:pt x="1762144" y="351"/>
                      <a:pt x="3936365" y="0"/>
                    </a:cubicBezTo>
                    <a:close/>
                  </a:path>
                </a:pathLst>
              </a:custGeom>
              <a:solidFill>
                <a:srgbClr val="FFEDB5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7874000" cy="791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2446379"/>
              <a:ext cx="9406738" cy="2252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299"/>
                </a:lnSpc>
              </a:pPr>
              <a:r>
                <a:rPr lang="en-US" b="true" sz="11083">
                  <a:solidFill>
                    <a:srgbClr val="1F1F1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Appendix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9749995" y="1416100"/>
              <a:ext cx="3760546" cy="3760546"/>
            </a:xfrm>
            <a:custGeom>
              <a:avLst/>
              <a:gdLst/>
              <a:ahLst/>
              <a:cxnLst/>
              <a:rect r="r" b="b" t="t" l="l"/>
              <a:pathLst>
                <a:path h="3760546" w="3760546">
                  <a:moveTo>
                    <a:pt x="0" y="0"/>
                  </a:moveTo>
                  <a:lnTo>
                    <a:pt x="3760546" y="0"/>
                  </a:lnTo>
                  <a:lnTo>
                    <a:pt x="3760546" y="3760547"/>
                  </a:lnTo>
                  <a:lnTo>
                    <a:pt x="0" y="37605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DAHZjl15cY4</dc:identifier>
  <dcterms:modified xsi:type="dcterms:W3CDTF">2011-08-01T06:04:30Z</dcterms:modified>
  <cp:revision>1</cp:revision>
  <dc:title>Jobee Finalist Slides</dc:title>
</cp:coreProperties>
</file>